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80" r:id="rId5"/>
    <p:sldId id="284" r:id="rId6"/>
    <p:sldId id="272" r:id="rId7"/>
    <p:sldId id="259" r:id="rId8"/>
    <p:sldId id="262" r:id="rId9"/>
    <p:sldId id="282" r:id="rId10"/>
    <p:sldId id="283" r:id="rId11"/>
    <p:sldId id="260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1" r:id="rId20"/>
    <p:sldId id="261" r:id="rId21"/>
    <p:sldId id="264" r:id="rId22"/>
    <p:sldId id="265" r:id="rId23"/>
    <p:sldId id="271" r:id="rId24"/>
    <p:sldId id="266" r:id="rId25"/>
    <p:sldId id="267" r:id="rId26"/>
    <p:sldId id="268" r:id="rId27"/>
    <p:sldId id="269" r:id="rId28"/>
    <p:sldId id="270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05"/>
    <p:restoredTop sz="94638"/>
  </p:normalViewPr>
  <p:slideViewPr>
    <p:cSldViewPr snapToGrid="0">
      <p:cViewPr varScale="1">
        <p:scale>
          <a:sx n="113" d="100"/>
          <a:sy n="113" d="100"/>
        </p:scale>
        <p:origin x="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74DDA-2096-7B8C-6B23-9664F1D14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46814-18E0-5FC7-96CC-88F02D945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C13E1-762A-94F8-8184-6BE3B83F5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7C16-8AC6-124B-8209-A1139030DBA5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337B2-07E6-B311-5985-56DE9AB61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F78F0-6757-CA59-CA39-E53968873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E14B-D1E3-524D-A03E-3D530CEAD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3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AA6C4-9E71-B0C0-CDBE-A5E9DC003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B52C8-750B-9FEE-DE3C-E25264D89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8006F-10D4-1EB7-5B40-1B6998ABB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7C16-8AC6-124B-8209-A1139030DBA5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D3B84-F037-B2EA-E064-6C8A406E7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23-854A-911C-8FE7-BD3E03E37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E14B-D1E3-524D-A03E-3D530CEAD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34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87E50-275D-EF13-4F6A-FAEC8C9E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57E90-0242-BD4A-3F8F-8D438D495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893DB-BCF8-74E5-9FAE-4AC470587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7C16-8AC6-124B-8209-A1139030DBA5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41097-806A-3105-D655-E2308941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ED0FC-C423-838E-1811-43835750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E14B-D1E3-524D-A03E-3D530CEAD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986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F596-93EF-3338-5C00-2E4C697B4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B0AC7-EDF9-1CD9-C087-4F7CC9F0A3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6EF6D-EEF9-86A7-039D-6BD24FE14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F85BF-4FFC-5416-7D03-1229E697A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7C16-8AC6-124B-8209-A1139030DBA5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25D9D-4D84-9A2A-4FDE-FD0D7314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C63FA-8059-465D-7B8F-9F29971C9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E14B-D1E3-524D-A03E-3D530CEAD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233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1AE00-BD2A-90B6-96BF-5AEC3EEFD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BB90D-061C-5DAC-0825-71CBD3728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DFD70-5BAD-223B-3E56-5F1CE6330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6F8295-9499-3E29-AAF1-0B234397B6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7DC327-5C49-230D-BDA3-CE1845796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DA755-6768-D8CA-C0C7-BA8DF27F9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7C16-8AC6-124B-8209-A1139030DBA5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B361F6-8AB4-5C00-1634-4D44E936A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1D1CA-EED5-91FF-E04E-BA1F4EF3E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E14B-D1E3-524D-A03E-3D530CEAD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5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AAF8C-742A-56BD-E116-3EC5651FC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109592-B038-29CE-B7F6-7877162F0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7C16-8AC6-124B-8209-A1139030DBA5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83C472-F947-1CF9-07C9-EAC5F3F12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3E294D-0EDE-EBBB-115C-617496D9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E14B-D1E3-524D-A03E-3D530CEAD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95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075763-1702-3A12-1DD7-698951F53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7C16-8AC6-124B-8209-A1139030DBA5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544B66-C06E-28EC-208B-85300B3CE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1D67B-24FF-242A-BCCF-1854E518E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E14B-D1E3-524D-A03E-3D530CEAD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51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76BC9-D74F-98B8-9012-B9F32A5F5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49E78-3CB5-AF66-44DF-21B871C33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ABD686-D15E-390D-E4B5-0BA9768D4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94A75-CCB0-2285-58D3-B04DB0815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7C16-8AC6-124B-8209-A1139030DBA5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139AC-165B-5B0D-BF95-DC734D7CF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73026-C3D7-372E-8927-2EBB9FEF1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E14B-D1E3-524D-A03E-3D530CEAD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247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4DB19-9A35-3E7D-1B8D-1EA7252CC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83908E-D249-A894-702D-B84EABE697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E7F24-C638-CED4-489C-9F505CA16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22F76-C1FC-24F0-0FFA-39CA8125C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7C16-8AC6-124B-8209-A1139030DBA5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C11C8-0BF9-CACF-2C55-CE70324F7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0FB0B-40F5-D783-09E8-6C9CC667C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E14B-D1E3-524D-A03E-3D530CEAD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785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8C763-801E-A8C9-6D6D-A6BD93F3E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E1DD8F-BF8D-E130-2F2B-B4D45E65A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5B8A8-99C1-6524-4B41-26E361162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7C16-8AC6-124B-8209-A1139030DBA5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1FE4D-85A6-9B17-3A47-3F51ADD0D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4E4D5-119C-C589-E5D5-CE654F806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E14B-D1E3-524D-A03E-3D530CEAD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66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0B3197-9D10-083A-B82F-7014475389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08B67-12EC-60F7-FCA5-01CDC6638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7CB08-0AC0-FB51-261C-76421B8AB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7C16-8AC6-124B-8209-A1139030DBA5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F16A5-B904-74E6-6931-5EAC8AAC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95FC7-8C6E-6D02-5B93-1086B3896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E14B-D1E3-524D-A03E-3D530CEAD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6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359C18-EB4A-52C6-B4C4-52292C7C6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DB948-53A2-5EDE-17BC-3046B6FE9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83015-BBDC-C705-4FAA-3EE68F28C3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827C16-8AC6-124B-8209-A1139030DBA5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FE15-999F-4187-5BA1-161D52A76C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30327-3C8A-5069-E053-6617FFE85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9E14B-D1E3-524D-A03E-3D530CEAD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28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E3392-A79B-6F4C-A7F6-538BE2F12D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Android-Controlled Bomb Disposal Robotic Arm Vehicle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776164-BEE9-1373-DBA5-C7D46A530D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538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4FFE9-29D5-FF23-F8E3-F6E8FE1F3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B8AA-A418-1B6C-3A0A-F37288EBB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BVLOS (Beyond Visual Line of Sight) Telemetry System</a:t>
            </a:r>
            <a:r>
              <a:rPr lang="en-US" dirty="0"/>
              <a:t> that solves the fundamental problem of range limitations in traditional RF (Radio Frequency) control.</a:t>
            </a:r>
          </a:p>
          <a:p>
            <a:pPr algn="just"/>
            <a:r>
              <a:rPr lang="en-US" dirty="0"/>
              <a:t>Building a </a:t>
            </a:r>
            <a:r>
              <a:rPr lang="en-US" b="1" dirty="0"/>
              <a:t>Bomb Disposal Robotic Arm Vehicle</a:t>
            </a:r>
            <a:r>
              <a:rPr lang="en-US" dirty="0"/>
              <a:t> is a sophisticated project that combines power electronics, mechanical linkages, wireless communication, and software integration. </a:t>
            </a:r>
          </a:p>
        </p:txBody>
      </p:sp>
    </p:spTree>
    <p:extLst>
      <p:ext uri="{BB962C8B-B14F-4D97-AF65-F5344CB8AC3E}">
        <p14:creationId xmlns:p14="http://schemas.microsoft.com/office/powerpoint/2010/main" val="3162726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FD8FA1F-C59D-9D60-4FDA-E736119A0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2117"/>
            <a:ext cx="10515600" cy="23318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b="1" dirty="0"/>
              <a:t>BVLOS HYBRID CONTROL ARCHITECTURE</a:t>
            </a:r>
            <a:br>
              <a:rPr lang="en-US" b="1" dirty="0"/>
            </a:br>
            <a:endParaRPr lang="en-US" dirty="0"/>
          </a:p>
        </p:txBody>
      </p:sp>
      <p:pic>
        <p:nvPicPr>
          <p:cNvPr id="27" name="Content Placeholder 26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353A0B3D-A292-3F18-8FAE-A2B8F639E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1413" y="965304"/>
            <a:ext cx="8574073" cy="5753188"/>
          </a:xfrm>
        </p:spPr>
      </p:pic>
    </p:spTree>
    <p:extLst>
      <p:ext uri="{BB962C8B-B14F-4D97-AF65-F5344CB8AC3E}">
        <p14:creationId xmlns:p14="http://schemas.microsoft.com/office/powerpoint/2010/main" val="1155988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F04F8-1ACD-9A2A-1F39-52F455AC3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9AA45-2B01-50A5-666F-7991090A1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881"/>
            <a:ext cx="10515600" cy="59443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BVLOS Bomb Disposal Robot: App Architecture</a:t>
            </a:r>
            <a:br>
              <a:rPr lang="en-US" b="1" dirty="0"/>
            </a:br>
            <a:endParaRPr lang="en-US" dirty="0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4A912E-0BAE-8012-8EA3-DA076250F9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6630" y="911703"/>
            <a:ext cx="9303656" cy="5807706"/>
          </a:xfrm>
        </p:spPr>
      </p:pic>
    </p:spTree>
    <p:extLst>
      <p:ext uri="{BB962C8B-B14F-4D97-AF65-F5344CB8AC3E}">
        <p14:creationId xmlns:p14="http://schemas.microsoft.com/office/powerpoint/2010/main" val="2000840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0D596-6D92-2626-2102-4FCB1F419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639756" cy="60571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Hybrid Telemetry Architecture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D72AE3-B14E-3825-CCEE-7CC777E0BD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1679" y="952897"/>
            <a:ext cx="11568642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Tri-Level Range Logic: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Bluetooth Path: </a:t>
            </a:r>
            <a:r>
              <a:rPr lang="en-US" altLang="en-US" sz="2400" b="1" dirty="0">
                <a:latin typeface="Arial" panose="020B0604020202020204" pitchFamily="34" charset="0"/>
              </a:rPr>
              <a:t>HC-05 / BLE Module Integration:</a:t>
            </a:r>
            <a:r>
              <a:rPr lang="en-US" altLang="en-US" sz="2400" dirty="0">
                <a:latin typeface="Arial" panose="020B0604020202020204" pitchFamily="34" charset="0"/>
              </a:rPr>
              <a:t>  This connects directly to the </a:t>
            </a:r>
            <a:r>
              <a:rPr lang="en-US" altLang="en-US" sz="2400" b="1" dirty="0">
                <a:latin typeface="Arial" panose="020B0604020202020204" pitchFamily="34" charset="0"/>
              </a:rPr>
              <a:t>Main MCU</a:t>
            </a:r>
            <a:r>
              <a:rPr lang="en-US" altLang="en-US" sz="2400" dirty="0">
                <a:latin typeface="Arial" panose="020B0604020202020204" pitchFamily="34" charset="0"/>
              </a:rPr>
              <a:t> (via Serial UART).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"Pre-flight Checks"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maintenance.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you are standing next to the robot, you don't want to use cellular data or call </a:t>
            </a:r>
            <a:r>
              <a:rPr lang="en-US" altLang="en-US" sz="2400" dirty="0">
                <a:latin typeface="Arial" panose="020B0604020202020204" pitchFamily="34" charset="0"/>
              </a:rPr>
              <a:t>the robot.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You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Bluetooth for quick calibration.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Wi-Fi Path: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for high-bandwidth video (Perception) when the robot is within ~100-300 meters.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GSM Path: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primary BVLOS link.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Once the robot moves beyond the Wi-Fi radius, you switch to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DTMF/GSM control for global reach.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Connectivity: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App UI </a:t>
            </a:r>
            <a:r>
              <a:rPr lang="en-US" altLang="en-US" sz="2400" dirty="0">
                <a:latin typeface="Arial" panose="020B0604020202020204" pitchFamily="34" charset="0"/>
              </a:rPr>
              <a:t>is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versatile enough to handle different connection states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3481423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0F0E-3555-ECC7-5AA0-A1AF2417A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97768"/>
            <a:ext cx="10515600" cy="369332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latin typeface="Arial" panose="020B0604020202020204" pitchFamily="34" charset="0"/>
              </a:rPr>
              <a:t>Technical Summary Table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01BF26-4E5B-40B2-35DE-C3469696EC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385378"/>
              </p:ext>
            </p:extLst>
          </p:nvPr>
        </p:nvGraphicFramePr>
        <p:xfrm>
          <a:off x="714021" y="1623289"/>
          <a:ext cx="10958689" cy="4572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05736">
                  <a:extLst>
                    <a:ext uri="{9D8B030D-6E8A-4147-A177-3AD203B41FA5}">
                      <a16:colId xmlns:a16="http://schemas.microsoft.com/office/drawing/2014/main" val="2919458972"/>
                    </a:ext>
                  </a:extLst>
                </a:gridCol>
                <a:gridCol w="2817651">
                  <a:extLst>
                    <a:ext uri="{9D8B030D-6E8A-4147-A177-3AD203B41FA5}">
                      <a16:colId xmlns:a16="http://schemas.microsoft.com/office/drawing/2014/main" val="3429826471"/>
                    </a:ext>
                  </a:extLst>
                </a:gridCol>
                <a:gridCol w="2817651">
                  <a:extLst>
                    <a:ext uri="{9D8B030D-6E8A-4147-A177-3AD203B41FA5}">
                      <a16:colId xmlns:a16="http://schemas.microsoft.com/office/drawing/2014/main" val="1349207353"/>
                    </a:ext>
                  </a:extLst>
                </a:gridCol>
                <a:gridCol w="2817651">
                  <a:extLst>
                    <a:ext uri="{9D8B030D-6E8A-4147-A177-3AD203B41FA5}">
                      <a16:colId xmlns:a16="http://schemas.microsoft.com/office/drawing/2014/main" val="1503024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Wi-Fi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GSM (Cellular)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6635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Max Range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~100m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~300m (Standard)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Global (Tower dependent)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6042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Data Rate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Low (2-3 Mbps)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High (Standard 600+ Mbps)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Moderate to High (4G/5G)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6016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Power Consumption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Very 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High (during bursts)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9571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Infrastructure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Peer-to-Peer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Requires Router/AP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Requires Service Provider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593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BVLOS Suitability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Limited (Line of Sight)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High (Primary Choice)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059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2240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84F23-A1C4-8E2F-1389-677FB226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r>
              <a:rPr lang="en-US" dirty="0"/>
              <a:t>Hardware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A2F5E-A98D-63F6-17F8-87EFA2662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756" y="1117600"/>
            <a:ext cx="10699044" cy="5059363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Microcontroller:</a:t>
            </a:r>
            <a:r>
              <a:rPr lang="en-US" dirty="0"/>
              <a:t> </a:t>
            </a:r>
            <a:r>
              <a:rPr lang="en-US" b="1" dirty="0"/>
              <a:t>Arduino Mega 2560</a:t>
            </a:r>
            <a:r>
              <a:rPr lang="en-US" dirty="0"/>
              <a:t> (due to the high number of PWM pins needed for servos).</a:t>
            </a:r>
          </a:p>
          <a:p>
            <a:pPr algn="just"/>
            <a:r>
              <a:rPr lang="en-US" b="1" dirty="0"/>
              <a:t>Locomotion Motors:</a:t>
            </a:r>
            <a:r>
              <a:rPr lang="en-US" dirty="0"/>
              <a:t> High-torque DC Gear Motors with an </a:t>
            </a:r>
            <a:r>
              <a:rPr lang="en-US" b="1" dirty="0"/>
              <a:t>L298N</a:t>
            </a:r>
            <a:r>
              <a:rPr lang="en-US" dirty="0"/>
              <a:t> or </a:t>
            </a:r>
            <a:r>
              <a:rPr lang="en-US" b="1" dirty="0"/>
              <a:t>BTS7960</a:t>
            </a:r>
            <a:r>
              <a:rPr lang="en-US" dirty="0"/>
              <a:t> H-Bridge driver.</a:t>
            </a:r>
          </a:p>
          <a:p>
            <a:pPr algn="just"/>
            <a:r>
              <a:rPr lang="en-US" b="1" dirty="0"/>
              <a:t>Arm Actuators:</a:t>
            </a:r>
            <a:r>
              <a:rPr lang="en-US" dirty="0"/>
              <a:t> High-torque Servo Motors (e.g., MG996R) for the base, elbow, wrist, and gripper.</a:t>
            </a:r>
          </a:p>
          <a:p>
            <a:pPr algn="just"/>
            <a:r>
              <a:rPr lang="en-US" b="1" dirty="0"/>
              <a:t>Communication:</a:t>
            </a:r>
            <a:r>
              <a:rPr lang="en-US" dirty="0"/>
              <a:t> </a:t>
            </a:r>
            <a:r>
              <a:rPr lang="en-US" b="1" dirty="0"/>
              <a:t>HC-05</a:t>
            </a:r>
            <a:r>
              <a:rPr lang="en-US" dirty="0"/>
              <a:t> (Bluetooth) for short-range and </a:t>
            </a:r>
            <a:r>
              <a:rPr lang="en-US" b="1" dirty="0"/>
              <a:t>ESP32</a:t>
            </a:r>
            <a:r>
              <a:rPr lang="en-US" dirty="0"/>
              <a:t> (Wi-Fi) for longer range/video streaming.</a:t>
            </a:r>
          </a:p>
          <a:p>
            <a:pPr algn="just"/>
            <a:r>
              <a:rPr lang="en-US" b="1" dirty="0"/>
              <a:t>Power Supply:</a:t>
            </a:r>
            <a:r>
              <a:rPr lang="en-US" dirty="0"/>
              <a:t> 11.1V or 14.8V LiPo battery.</a:t>
            </a:r>
          </a:p>
          <a:p>
            <a:pPr algn="just"/>
            <a:r>
              <a:rPr lang="en-US" dirty="0"/>
              <a:t> </a:t>
            </a:r>
            <a:r>
              <a:rPr lang="en-US" b="1" dirty="0"/>
              <a:t>Buck Converter</a:t>
            </a:r>
            <a:r>
              <a:rPr lang="en-US" dirty="0"/>
              <a:t> (Step-down) to provide a stable 5V/6V for the servos and 3.3V for the controller.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571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4C902-BB64-9895-82EA-2FEE1F1C2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0598B-B9B7-9E55-311E-649F1FB2D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770"/>
            <a:ext cx="10515600" cy="752475"/>
          </a:xfrm>
        </p:spPr>
        <p:txBody>
          <a:bodyPr/>
          <a:lstStyle/>
          <a:p>
            <a:r>
              <a:rPr lang="en-US" dirty="0"/>
              <a:t>Hardware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F1E38-535A-7621-96E9-D357B4A51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821" y="869245"/>
            <a:ext cx="11638846" cy="5779911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 dirty="0"/>
              <a:t>MT8870 Decoder DTMF to Digital:</a:t>
            </a:r>
            <a:r>
              <a:rPr lang="en-US" dirty="0"/>
              <a:t> Decodes the specific 2-tone frequencies into a 4-bit binary code.</a:t>
            </a:r>
          </a:p>
          <a:p>
            <a:pPr algn="just"/>
            <a:r>
              <a:rPr lang="en-US" b="1" dirty="0"/>
              <a:t>L298N H-Bridge	Motor Driver: </a:t>
            </a:r>
            <a:r>
              <a:rPr lang="en-US" dirty="0"/>
              <a:t>Manages high-current DC motors while isolating digital logic from EMF noise.</a:t>
            </a:r>
          </a:p>
          <a:p>
            <a:pPr algn="just"/>
            <a:r>
              <a:rPr lang="en-US" b="1" dirty="0"/>
              <a:t>On-Board Phone Cellular Interface: </a:t>
            </a:r>
            <a:r>
              <a:rPr lang="en-US" dirty="0"/>
              <a:t>Provides global connectivity without needing a custom LTE module.</a:t>
            </a:r>
          </a:p>
          <a:p>
            <a:pPr algn="just"/>
            <a:r>
              <a:rPr lang="en-US" b="1" dirty="0"/>
              <a:t>ESP32-CAM / IP Cam: </a:t>
            </a:r>
            <a:r>
              <a:rPr lang="en-US" dirty="0"/>
              <a:t>Provides the FPV (First Person View) required for navigation.</a:t>
            </a:r>
          </a:p>
          <a:p>
            <a:r>
              <a:rPr lang="en-US" b="1" dirty="0"/>
              <a:t>The Gripper (Precision Handling): I</a:t>
            </a:r>
            <a:r>
              <a:rPr lang="en-US" dirty="0"/>
              <a:t>ts primary roles are:</a:t>
            </a:r>
          </a:p>
          <a:p>
            <a:r>
              <a:rPr lang="en-US" b="1" dirty="0"/>
              <a:t>Manipulation:</a:t>
            </a:r>
            <a:r>
              <a:rPr lang="en-US" dirty="0"/>
              <a:t> Moving the bomb to a "Blast Pit" or a "Containment Vessel" if it’s too dangerous to disarm on-site.</a:t>
            </a:r>
          </a:p>
          <a:p>
            <a:r>
              <a:rPr lang="en-US" b="1" dirty="0"/>
              <a:t>Steadying:</a:t>
            </a:r>
            <a:r>
              <a:rPr lang="en-US" dirty="0"/>
              <a:t> Holding a specific component steady while another tool (like a cutter) works on it.</a:t>
            </a:r>
          </a:p>
          <a:p>
            <a:r>
              <a:rPr lang="en-US" b="1" dirty="0"/>
              <a:t>Unscrewing:</a:t>
            </a:r>
            <a:r>
              <a:rPr lang="en-US" dirty="0"/>
              <a:t> Removing a detonator or a fuse cap.</a:t>
            </a:r>
          </a:p>
          <a:p>
            <a:r>
              <a:rPr lang="en-US" b="1" dirty="0"/>
              <a:t>The Disarm Mechanism (The "Cutter")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411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A74DB-A5A0-9AA4-8D13-718AF1007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3971A-B289-3F1F-7BA5-E21634A26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770"/>
            <a:ext cx="10515600" cy="752475"/>
          </a:xfrm>
        </p:spPr>
        <p:txBody>
          <a:bodyPr/>
          <a:lstStyle/>
          <a:p>
            <a:r>
              <a:rPr lang="en-US" dirty="0"/>
              <a:t>Hardware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5D4B7-816E-61CC-009B-7AFE598D6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821" y="869245"/>
            <a:ext cx="11638846" cy="5779911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 addition to a </a:t>
            </a:r>
            <a:r>
              <a:rPr lang="en-US" b="1" dirty="0"/>
              <a:t>Wire Cutter</a:t>
            </a:r>
            <a:r>
              <a:rPr lang="en-US" dirty="0"/>
              <a:t>, this mechanism could include:</a:t>
            </a:r>
          </a:p>
          <a:p>
            <a:pPr algn="just"/>
            <a:r>
              <a:rPr lang="en-US" b="1" dirty="0"/>
              <a:t>Mechanical Wire Snips:</a:t>
            </a:r>
            <a:r>
              <a:rPr lang="en-US" dirty="0"/>
              <a:t> Dual-blade cutters for thin trigger wires.</a:t>
            </a:r>
          </a:p>
          <a:p>
            <a:pPr algn="just"/>
            <a:r>
              <a:rPr lang="en-US" b="1" dirty="0"/>
              <a:t>Water-Jet Disrupter:</a:t>
            </a:r>
            <a:r>
              <a:rPr lang="en-US" dirty="0"/>
              <a:t> In advanced robots, the "disarm" tool is actually a high-pressure water cannon that "shreds" the internal circuitry of the bomb faster than the electricity can reach the detonator.</a:t>
            </a:r>
          </a:p>
          <a:p>
            <a:pPr algn="just"/>
            <a:r>
              <a:rPr lang="en-US" b="1" dirty="0"/>
              <a:t>PCB Drill:</a:t>
            </a:r>
            <a:r>
              <a:rPr lang="en-US" dirty="0"/>
              <a:t> A small high-speed drill to create an opening for a neutralizing agent or to sever a copper trace on a circuit board without moving the whole device.</a:t>
            </a:r>
          </a:p>
          <a:p>
            <a:pPr algn="just"/>
            <a:r>
              <a:rPr lang="en-US" b="1" dirty="0"/>
              <a:t>Non-Conductive Ceramic Blades:</a:t>
            </a:r>
            <a:r>
              <a:rPr lang="en-US" dirty="0"/>
              <a:t> Used specifically to cut wires without causing a short circuit (which could trigger an explosion).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911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66EA7-EFFE-883A-AF72-2AAAAF1F1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AE21F-5104-0D64-7CBC-405D967B1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770"/>
            <a:ext cx="10515600" cy="752475"/>
          </a:xfrm>
        </p:spPr>
        <p:txBody>
          <a:bodyPr/>
          <a:lstStyle/>
          <a:p>
            <a:r>
              <a:rPr lang="en-US" dirty="0"/>
              <a:t>Hardware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28221-1867-6735-7F2A-246EAF92C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821" y="869245"/>
            <a:ext cx="11638846" cy="5779911"/>
          </a:xfrm>
        </p:spPr>
        <p:txBody>
          <a:bodyPr>
            <a:normAutofit/>
          </a:bodyPr>
          <a:lstStyle/>
          <a:p>
            <a:r>
              <a:rPr lang="en-US" b="1" dirty="0"/>
              <a:t>Additional Features for the Robot Arm</a:t>
            </a:r>
          </a:p>
          <a:p>
            <a:r>
              <a:rPr lang="en-US" dirty="0"/>
              <a:t>Additional features that can be added to the robot arm are as follows</a:t>
            </a:r>
          </a:p>
          <a:p>
            <a:r>
              <a:rPr lang="en-US" b="1" dirty="0"/>
              <a:t>X-Ray Mount:</a:t>
            </a:r>
            <a:r>
              <a:rPr lang="en-US" dirty="0"/>
              <a:t> A holder for a portable X-ray panel so you can see the internal firing circuit without opening the casing.</a:t>
            </a:r>
          </a:p>
          <a:p>
            <a:r>
              <a:rPr lang="en-US" b="1" dirty="0"/>
              <a:t>Capacitor Discharge Tool:</a:t>
            </a:r>
            <a:r>
              <a:rPr lang="en-US" dirty="0"/>
              <a:t> A probe used to safely drain the energy from the bomb's firing capacitor so it no longer has the "power" to explode.</a:t>
            </a:r>
          </a:p>
          <a:p>
            <a:r>
              <a:rPr lang="en-US" b="1" dirty="0"/>
              <a:t>Chemical Sniffer:</a:t>
            </a:r>
            <a:r>
              <a:rPr lang="en-US" dirty="0"/>
              <a:t> A sensor at the tip of the arm to detect the specific type of explosive (C4, TNT, Nitrate) based on vapor.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740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1FC52-C4AD-ECE5-BDE0-37FD50DFB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980"/>
            <a:ext cx="10515600" cy="683150"/>
          </a:xfrm>
        </p:spPr>
        <p:txBody>
          <a:bodyPr>
            <a:normAutofit fontScale="90000"/>
          </a:bodyPr>
          <a:lstStyle/>
          <a:p>
            <a:r>
              <a:rPr lang="en-US" dirty="0"/>
              <a:t>Step-by-Step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6884C-415C-F6C0-FED0-7AFA01688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031" y="858130"/>
            <a:ext cx="11591778" cy="5999870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Step A: The Mechanical Linkage (Manipulator)</a:t>
            </a:r>
          </a:p>
          <a:p>
            <a:pPr algn="just"/>
            <a:r>
              <a:rPr lang="en-US" b="1" dirty="0"/>
              <a:t>DOF Calculation:</a:t>
            </a:r>
            <a:r>
              <a:rPr lang="en-US" dirty="0"/>
              <a:t> Design for 4 DOF (Base rotation, Shoulder, Elbow, Gripper).</a:t>
            </a:r>
          </a:p>
          <a:p>
            <a:pPr algn="just"/>
            <a:r>
              <a:rPr lang="en-US" dirty="0"/>
              <a:t>Same design for the cutter.</a:t>
            </a:r>
          </a:p>
          <a:p>
            <a:pPr algn="just"/>
            <a:r>
              <a:rPr lang="en-US" b="1" dirty="0"/>
              <a:t>Torque Math:</a:t>
            </a:r>
            <a:r>
              <a:rPr lang="en-US" dirty="0"/>
              <a:t> We calculated the </a:t>
            </a:r>
            <a:r>
              <a:rPr lang="en-US" b="1" dirty="0"/>
              <a:t>Stall Torque</a:t>
            </a:r>
            <a:r>
              <a:rPr lang="en-US" dirty="0"/>
              <a:t> required for the shoulder motor based on the weight of the arm + the payload at maximum extension (Torque = Force X Distance).</a:t>
            </a:r>
          </a:p>
          <a:p>
            <a:pPr algn="just"/>
            <a:r>
              <a:rPr lang="en-US" b="1" dirty="0"/>
              <a:t>Step B: The Android Application (The "Client")</a:t>
            </a:r>
          </a:p>
          <a:p>
            <a:pPr algn="just"/>
            <a:r>
              <a:rPr lang="en-US" b="1" dirty="0"/>
              <a:t>Development Environment:</a:t>
            </a:r>
            <a:r>
              <a:rPr lang="en-US" dirty="0"/>
              <a:t> MIT App Inventor (fast prototyping)</a:t>
            </a:r>
          </a:p>
          <a:p>
            <a:pPr algn="just"/>
            <a:r>
              <a:rPr lang="en-US" b="1" dirty="0"/>
              <a:t>GUI Design:</a:t>
            </a:r>
            <a:r>
              <a:rPr lang="en-US" dirty="0"/>
              <a:t> Use Sliders (for precise arm movement) and Joysticks (for vehicle movement).</a:t>
            </a:r>
          </a:p>
          <a:p>
            <a:pPr algn="just"/>
            <a:r>
              <a:rPr lang="en-US" b="1" dirty="0"/>
              <a:t>Data Protocol:</a:t>
            </a:r>
            <a:r>
              <a:rPr lang="en-US" dirty="0"/>
              <a:t> Send characters or string packets via Bluetooth or Wi-Fi.</a:t>
            </a:r>
          </a:p>
          <a:p>
            <a:pPr lvl="1" algn="just"/>
            <a:r>
              <a:rPr lang="en-US" i="1" dirty="0"/>
              <a:t>Example:</a:t>
            </a:r>
            <a:r>
              <a:rPr lang="en-US" dirty="0"/>
              <a:t> "F" for forward, "S90" to set Servo 1 to 90 degrees.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171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364D1-17FE-7ED7-F430-E67E8F70C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881"/>
            <a:ext cx="10515600" cy="59443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BVLOS Bomb Disposal Robot: App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6C5A9-961D-33E7-0601-D646E9899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178" y="1106312"/>
            <a:ext cx="10515600" cy="5441244"/>
          </a:xfrm>
        </p:spPr>
        <p:txBody>
          <a:bodyPr>
            <a:normAutofit/>
          </a:bodyPr>
          <a:lstStyle/>
          <a:p>
            <a:r>
              <a:rPr lang="en-US" b="1" dirty="0"/>
              <a:t>System Communication Map</a:t>
            </a:r>
          </a:p>
          <a:p>
            <a:r>
              <a:rPr lang="en-US" b="1" dirty="0"/>
              <a:t>Robot Side:</a:t>
            </a:r>
            <a:r>
              <a:rPr lang="en-US" dirty="0"/>
              <a:t> ESP32-CAM (handling the arm logic and the video stream).</a:t>
            </a:r>
          </a:p>
          <a:p>
            <a:r>
              <a:rPr lang="en-US" b="1" dirty="0"/>
              <a:t>Cloud Layer:</a:t>
            </a:r>
            <a:r>
              <a:rPr lang="en-US" dirty="0"/>
              <a:t> Firebase Realtime Database (for control commands) +</a:t>
            </a:r>
            <a:r>
              <a:rPr lang="en-US" b="1" dirty="0"/>
              <a:t> Web Real-Time Communication</a:t>
            </a:r>
            <a:r>
              <a:rPr lang="en-US" dirty="0"/>
              <a:t> (WebRTC) or </a:t>
            </a:r>
            <a:r>
              <a:rPr lang="en-US" b="1" dirty="0"/>
              <a:t>Real-Time Streaming Protocol (RTSP</a:t>
            </a:r>
            <a:r>
              <a:rPr lang="en-US" dirty="0"/>
              <a:t> for video).</a:t>
            </a:r>
          </a:p>
          <a:p>
            <a:r>
              <a:rPr lang="en-US" b="1" dirty="0"/>
              <a:t>App Side (MIT App Inventor):</a:t>
            </a:r>
            <a:r>
              <a:rPr lang="en-US" dirty="0"/>
              <a:t> The Ground Control Station (GCS)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381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F0E7E-CD09-5332-B849-0A32F0F48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5293-9A49-9D44-E768-827BB9FC5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881"/>
            <a:ext cx="10515600" cy="59443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BVLOS Bomb Disposal Robot: App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BB0D6-F73B-EFF9-151D-E0700148E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178" y="1106312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Component Setup (Designer View)</a:t>
            </a:r>
          </a:p>
          <a:p>
            <a:r>
              <a:rPr lang="en-US" b="1" dirty="0" err="1"/>
              <a:t>Webview</a:t>
            </a:r>
            <a:r>
              <a:rPr lang="en-US" b="1" dirty="0"/>
              <a:t> (Video Feed):</a:t>
            </a:r>
            <a:r>
              <a:rPr lang="en-US" dirty="0"/>
              <a:t> Used to display the camera stream from the robot.</a:t>
            </a:r>
          </a:p>
          <a:p>
            <a:r>
              <a:rPr lang="en-US" b="1" dirty="0" err="1"/>
              <a:t>FirebaseDB</a:t>
            </a:r>
            <a:r>
              <a:rPr lang="en-US" b="1" dirty="0"/>
              <a:t>:</a:t>
            </a:r>
            <a:r>
              <a:rPr lang="en-US" dirty="0"/>
              <a:t> To send coordinates for the arm and directional commands for the vehicle.</a:t>
            </a:r>
          </a:p>
          <a:p>
            <a:r>
              <a:rPr lang="en-US" b="1" dirty="0"/>
              <a:t>Vertical Arrangements:</a:t>
            </a:r>
            <a:r>
              <a:rPr lang="en-US" dirty="0"/>
              <a:t> To create "Joystick" areas for movement and "Slider" areas for the robotic arm joints (Base, Elbow, Wrist, Gripper).</a:t>
            </a:r>
          </a:p>
          <a:p>
            <a:r>
              <a:rPr lang="en-US" b="1" dirty="0"/>
              <a:t>Clock Component:</a:t>
            </a:r>
            <a:r>
              <a:rPr lang="en-US" dirty="0"/>
              <a:t> To check for "Connection Heartbeat" (ensuring the robot is still online).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163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89E74-C6D8-9675-226B-A740D3C18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A75E8-7024-7BD8-4C3E-D4291B82D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881"/>
            <a:ext cx="10515600" cy="59443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BVLOS Bomb Disposal Robot: App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F4C48-D3FC-90DC-3564-FBCC8C673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178" y="110631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Core Logic Implementation</a:t>
            </a:r>
          </a:p>
          <a:p>
            <a:r>
              <a:rPr lang="en-US" b="1" dirty="0"/>
              <a:t>A. The Control Heartbeat (Safety First)</a:t>
            </a:r>
          </a:p>
          <a:p>
            <a:r>
              <a:rPr lang="en-US" dirty="0"/>
              <a:t>BVLOS requires a "Dead Man's Switch." </a:t>
            </a:r>
          </a:p>
          <a:p>
            <a:r>
              <a:rPr lang="en-US" dirty="0"/>
              <a:t>If the app crashes, the robot must stop.</a:t>
            </a:r>
          </a:p>
          <a:p>
            <a:r>
              <a:rPr lang="en-US" b="1" dirty="0"/>
              <a:t>App Logic:</a:t>
            </a:r>
            <a:r>
              <a:rPr lang="en-US" dirty="0"/>
              <a:t> Every 500ms, the App updates a heartbeat tag in Firebase to 1.</a:t>
            </a:r>
          </a:p>
          <a:p>
            <a:r>
              <a:rPr lang="en-US" b="1" dirty="0"/>
              <a:t>Robot Logic:</a:t>
            </a:r>
            <a:r>
              <a:rPr lang="en-US" dirty="0"/>
              <a:t> If the robot sees the heartbeat hasn't updated in 2 seconds, it enters "Safe Mode" (stops all motors).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886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CC8D4-F1D5-CDE4-A3C6-03028AAE9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F0F73-E74B-D30B-9984-E5A38024D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881"/>
            <a:ext cx="10515600" cy="59443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BVLOS Bomb Disposal Robot: App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0D3FD-5FDF-B86B-60FE-147383812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178" y="110631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B. Movement &amp; Arm Controls</a:t>
            </a:r>
          </a:p>
          <a:p>
            <a:r>
              <a:rPr lang="en-US" dirty="0"/>
              <a:t>Instead of many buttons, use </a:t>
            </a:r>
            <a:r>
              <a:rPr lang="en-US" b="1" dirty="0"/>
              <a:t>Sliders</a:t>
            </a:r>
            <a:r>
              <a:rPr lang="en-US" dirty="0"/>
              <a:t> for the robotic arm to allow precise movement (crucial for bomb disposal).</a:t>
            </a:r>
          </a:p>
          <a:p>
            <a:r>
              <a:rPr lang="en-US" b="1" dirty="0"/>
              <a:t>Blocks Logic:</a:t>
            </a:r>
            <a:endParaRPr lang="en-US" dirty="0"/>
          </a:p>
          <a:p>
            <a:pPr lvl="1"/>
            <a:r>
              <a:rPr lang="en-US" dirty="0"/>
              <a:t>When </a:t>
            </a:r>
            <a:r>
              <a:rPr lang="en-US" dirty="0" err="1"/>
              <a:t>Slider_Elbow.PositionChanged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Call </a:t>
            </a:r>
            <a:r>
              <a:rPr lang="en-US" dirty="0" err="1"/>
              <a:t>FirebaseDB.StoreValue</a:t>
            </a:r>
            <a:r>
              <a:rPr lang="en-US" dirty="0"/>
              <a:t>(tag="</a:t>
            </a:r>
            <a:r>
              <a:rPr lang="en-US" dirty="0" err="1"/>
              <a:t>Arm_Elbow</a:t>
            </a:r>
            <a:r>
              <a:rPr lang="en-US" dirty="0"/>
              <a:t>", value=</a:t>
            </a:r>
            <a:r>
              <a:rPr lang="en-US" dirty="0" err="1"/>
              <a:t>thumbPosition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When </a:t>
            </a:r>
            <a:r>
              <a:rPr lang="en-US" dirty="0" err="1"/>
              <a:t>Button_Forward.TouchDown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Call </a:t>
            </a:r>
            <a:r>
              <a:rPr lang="en-US" dirty="0" err="1"/>
              <a:t>FirebaseDB.StoreValue</a:t>
            </a:r>
            <a:r>
              <a:rPr lang="en-US" dirty="0"/>
              <a:t>(tag="Move", value="F")</a:t>
            </a:r>
          </a:p>
          <a:p>
            <a:pPr lvl="1"/>
            <a:r>
              <a:rPr lang="en-US" dirty="0"/>
              <a:t>When </a:t>
            </a:r>
            <a:r>
              <a:rPr lang="en-US" dirty="0" err="1"/>
              <a:t>Button_Forward.TouchUp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Call </a:t>
            </a:r>
            <a:r>
              <a:rPr lang="en-US" dirty="0" err="1"/>
              <a:t>FirebaseDB.StoreValue</a:t>
            </a:r>
            <a:r>
              <a:rPr lang="en-US" dirty="0"/>
              <a:t>(tag="Move", value="S") (Stop)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758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F68AB-99C5-809A-B59C-47A477446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2034B-63DD-9FBC-BF7A-B021C809B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881"/>
            <a:ext cx="10515600" cy="59443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BVLOS Bomb Disposal Robot: App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87429-3D14-3F56-E63D-EC0C0396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178" y="110631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C. The Visual Interface</a:t>
            </a:r>
          </a:p>
          <a:p>
            <a:r>
              <a:rPr lang="en-US" dirty="0"/>
              <a:t>Bomb disposal requires situational awareness.</a:t>
            </a:r>
          </a:p>
          <a:p>
            <a:r>
              <a:rPr lang="en-US" dirty="0"/>
              <a:t>Used a </a:t>
            </a:r>
            <a:r>
              <a:rPr lang="en-US" b="1" dirty="0"/>
              <a:t>Web Viewer</a:t>
            </a:r>
            <a:r>
              <a:rPr lang="en-US" dirty="0"/>
              <a:t> component pointing to the IP address of the robot's video stream (e.g., http://[</a:t>
            </a:r>
            <a:r>
              <a:rPr lang="en-US" dirty="0" err="1"/>
              <a:t>Robot_IP</a:t>
            </a:r>
            <a:r>
              <a:rPr lang="en-US" dirty="0"/>
              <a:t>]:8080/stream).</a:t>
            </a:r>
          </a:p>
          <a:p>
            <a:r>
              <a:rPr lang="en-US" b="1" dirty="0"/>
              <a:t>Overlay:</a:t>
            </a:r>
            <a:r>
              <a:rPr lang="en-US" dirty="0"/>
              <a:t> Placed transparent buttons over the Web Viewer so you can "touch" the screen to move while looking at the video.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850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43B0B-DD18-18AF-8262-88472218B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F7381-DDF3-C2AE-0180-04573925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881"/>
            <a:ext cx="10515600" cy="59443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BVLOS Bomb Disposal Robot: App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BE68A-5E35-C7AE-64AC-D650F3024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178" y="1106312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4. Crucial BVLOS Considerations</a:t>
            </a:r>
          </a:p>
          <a:p>
            <a:pPr algn="just"/>
            <a:r>
              <a:rPr lang="en-US" b="1" dirty="0"/>
              <a:t>Latency Monitoring:</a:t>
            </a:r>
            <a:r>
              <a:rPr lang="en-US" dirty="0"/>
              <a:t> Added a label that calculates the time difference between sending a command and receiving an "ACK" (Acknowledgement) from the robot.</a:t>
            </a:r>
          </a:p>
          <a:p>
            <a:pPr algn="just"/>
            <a:r>
              <a:rPr lang="en-US" dirty="0"/>
              <a:t> If latency exceeds 300ms, the operator should slow down.</a:t>
            </a:r>
          </a:p>
          <a:p>
            <a:pPr algn="just"/>
            <a:r>
              <a:rPr lang="en-US" b="1" dirty="0"/>
              <a:t>GPS Telemetry:</a:t>
            </a:r>
            <a:r>
              <a:rPr lang="en-US" dirty="0"/>
              <a:t> If the robot is in a field, include the Map component to see the robot's position relative to the "Blast Zone."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794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078AE-D899-DF75-1E7B-3D2921985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998A3-9E86-3F17-C9A0-E208BC7A6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881"/>
            <a:ext cx="10515600" cy="59443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BVLOS Bomb Disposal Robot: App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7CF5E-CC06-A2B2-9D2D-3E1F0507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178" y="110631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5. Suggested UI Layout</a:t>
            </a:r>
          </a:p>
          <a:p>
            <a:r>
              <a:rPr lang="en-US" b="1" dirty="0"/>
              <a:t>Top 70%:</a:t>
            </a:r>
            <a:r>
              <a:rPr lang="en-US" dirty="0"/>
              <a:t> Web Viewer (Real-time Video).</a:t>
            </a:r>
          </a:p>
          <a:p>
            <a:r>
              <a:rPr lang="en-US" b="1" dirty="0"/>
              <a:t>Bottom Left:</a:t>
            </a:r>
            <a:r>
              <a:rPr lang="en-US" dirty="0"/>
              <a:t> D-Pad for Vehicle movement.</a:t>
            </a:r>
          </a:p>
          <a:p>
            <a:r>
              <a:rPr lang="en-US" b="1" dirty="0"/>
              <a:t>Bottom Right:</a:t>
            </a:r>
            <a:r>
              <a:rPr lang="en-US" dirty="0"/>
              <a:t> 4-5 Sliders for the Robotic Arm joints.</a:t>
            </a:r>
          </a:p>
          <a:p>
            <a:r>
              <a:rPr lang="en-US" b="1" dirty="0"/>
              <a:t>Center Top:</a:t>
            </a:r>
            <a:r>
              <a:rPr lang="en-US" dirty="0"/>
              <a:t> Battery voltage and Signal Strength indicators.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395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85603-E1EE-B2D5-A15D-46B329AAC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184" y="190954"/>
            <a:ext cx="4169229" cy="737961"/>
          </a:xfrm>
        </p:spPr>
        <p:txBody>
          <a:bodyPr/>
          <a:lstStyle/>
          <a:p>
            <a:r>
              <a:rPr lang="en-US" dirty="0"/>
              <a:t>Fire base console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A523D6-E747-FF2A-DCEC-67DAE9FB1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3657" y="887593"/>
            <a:ext cx="8244114" cy="5817705"/>
          </a:xfrm>
        </p:spPr>
      </p:pic>
    </p:spTree>
    <p:extLst>
      <p:ext uri="{BB962C8B-B14F-4D97-AF65-F5344CB8AC3E}">
        <p14:creationId xmlns:p14="http://schemas.microsoft.com/office/powerpoint/2010/main" val="2864077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16A035-2D6B-C873-89FF-2ED26FBCA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600" dirty="0"/>
              <a:t>Step-by-Step Development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FA819-CFC5-EDE1-6FC7-CFBAF73ED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07208"/>
            <a:ext cx="3429000" cy="621792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2200" b="1" dirty="0"/>
              <a:t>Step C: The Firmware (The "Magic")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87F28A-E632-108D-9A6B-A2E84C185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373" y="90382"/>
            <a:ext cx="7988827" cy="667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056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0C74-E064-A1DF-000F-3C81F115B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588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Technical Breakdown: DTMF Control via GSM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9D5814-D0A3-BC06-9190-793478EBB5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4401" y="999736"/>
            <a:ext cx="11663198" cy="5970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is the "Bridge" between the cellular network and the hardware.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How it works: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When you press a key on your phone during a call, it sends two simultaneous frequencies (e.g., Key '2' is 770Hz + 1336Hz).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Decoding: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MT8870 filters these tones and sets 4 output pins (Q1-Q4) to a binary state.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Intercept: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(Delayed Steering)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pin on the MT8870 goes HIGH only when a valid tone is detected.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This is used as 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Interrupt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the Arduino to prevent "ghost" movements from noise.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97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A1EBF-22B9-7C47-CA6C-F2460D11F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DTMF Binary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39E667-C93A-5437-9DE6-8BB8EB2EB7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7205323"/>
              </p:ext>
            </p:extLst>
          </p:nvPr>
        </p:nvGraphicFramePr>
        <p:xfrm>
          <a:off x="2348089" y="1803576"/>
          <a:ext cx="7845778" cy="3596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80533">
                  <a:extLst>
                    <a:ext uri="{9D8B030D-6E8A-4147-A177-3AD203B41FA5}">
                      <a16:colId xmlns:a16="http://schemas.microsoft.com/office/drawing/2014/main" val="293604808"/>
                    </a:ext>
                  </a:extLst>
                </a:gridCol>
                <a:gridCol w="745067">
                  <a:extLst>
                    <a:ext uri="{9D8B030D-6E8A-4147-A177-3AD203B41FA5}">
                      <a16:colId xmlns:a16="http://schemas.microsoft.com/office/drawing/2014/main" val="3919499515"/>
                    </a:ext>
                  </a:extLst>
                </a:gridCol>
                <a:gridCol w="756356">
                  <a:extLst>
                    <a:ext uri="{9D8B030D-6E8A-4147-A177-3AD203B41FA5}">
                      <a16:colId xmlns:a16="http://schemas.microsoft.com/office/drawing/2014/main" val="968438549"/>
                    </a:ext>
                  </a:extLst>
                </a:gridCol>
                <a:gridCol w="688622">
                  <a:extLst>
                    <a:ext uri="{9D8B030D-6E8A-4147-A177-3AD203B41FA5}">
                      <a16:colId xmlns:a16="http://schemas.microsoft.com/office/drawing/2014/main" val="970361607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1816762896"/>
                    </a:ext>
                  </a:extLst>
                </a:gridCol>
                <a:gridCol w="1298222">
                  <a:extLst>
                    <a:ext uri="{9D8B030D-6E8A-4147-A177-3AD203B41FA5}">
                      <a16:colId xmlns:a16="http://schemas.microsoft.com/office/drawing/2014/main" val="1437853438"/>
                    </a:ext>
                  </a:extLst>
                </a:gridCol>
                <a:gridCol w="2754489">
                  <a:extLst>
                    <a:ext uri="{9D8B030D-6E8A-4147-A177-3AD203B41FA5}">
                      <a16:colId xmlns:a16="http://schemas.microsoft.com/office/drawing/2014/main" val="499971694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b="1" dirty="0">
                          <a:solidFill>
                            <a:srgbClr val="1F1F1F"/>
                          </a:solidFill>
                          <a:effectLst/>
                        </a:rPr>
                        <a:t>Key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b="1" dirty="0">
                          <a:solidFill>
                            <a:srgbClr val="1F1F1F"/>
                          </a:solidFill>
                          <a:effectLst/>
                        </a:rPr>
                        <a:t>Q4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b="1">
                          <a:solidFill>
                            <a:srgbClr val="1F1F1F"/>
                          </a:solidFill>
                          <a:effectLst/>
                        </a:rPr>
                        <a:t>Q3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b="1">
                          <a:solidFill>
                            <a:srgbClr val="1F1F1F"/>
                          </a:solidFill>
                          <a:effectLst/>
                        </a:rPr>
                        <a:t>Q2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b="1">
                          <a:solidFill>
                            <a:srgbClr val="1F1F1F"/>
                          </a:solidFill>
                          <a:effectLst/>
                        </a:rPr>
                        <a:t>Q1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b="1">
                          <a:solidFill>
                            <a:srgbClr val="1F1F1F"/>
                          </a:solidFill>
                          <a:effectLst/>
                        </a:rPr>
                        <a:t>Binary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b="1">
                          <a:solidFill>
                            <a:srgbClr val="1F1F1F"/>
                          </a:solidFill>
                          <a:effectLst/>
                        </a:rPr>
                        <a:t>Action Example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93242851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b="1">
                          <a:solidFill>
                            <a:srgbClr val="1F1F1F"/>
                          </a:solidFill>
                          <a:effectLst/>
                        </a:rPr>
                        <a:t>2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</a:rPr>
                        <a:t>2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</a:rPr>
                        <a:t>Forward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7976001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b="1">
                          <a:solidFill>
                            <a:srgbClr val="1F1F1F"/>
                          </a:solidFill>
                          <a:effectLst/>
                        </a:rPr>
                        <a:t>4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</a:rPr>
                        <a:t>4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</a:rPr>
                        <a:t>Left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47872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b="1">
                          <a:solidFill>
                            <a:srgbClr val="1F1F1F"/>
                          </a:solidFill>
                          <a:effectLst/>
                        </a:rPr>
                        <a:t>5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</a:rPr>
                        <a:t>5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</a:rPr>
                        <a:t>Stop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4373184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b="1">
                          <a:solidFill>
                            <a:srgbClr val="1F1F1F"/>
                          </a:solidFill>
                          <a:effectLst/>
                        </a:rPr>
                        <a:t>6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</a:rPr>
                        <a:t>6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</a:rPr>
                        <a:t>Right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491839939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b="1">
                          <a:solidFill>
                            <a:srgbClr val="1F1F1F"/>
                          </a:solidFill>
                          <a:effectLst/>
                        </a:rPr>
                        <a:t>8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</a:rPr>
                        <a:t>8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</a:rPr>
                        <a:t>Backward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114435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6269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489BE-177D-6012-901E-136BED659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C5FE12-3CDB-758C-CB9C-63EDBD395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9305" y="231754"/>
            <a:ext cx="6080399" cy="690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8403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EFF45-451A-EE8B-8C42-84043248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3169"/>
            <a:ext cx="10515600" cy="59443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Engineering Challenges &amp; Mitigation Strategies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22175-DE4F-11DF-6113-2F8802E07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777" y="1117599"/>
            <a:ext cx="11240911" cy="521723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Signal Latency &amp; Synchronization (The "Human-in-the-Loop" Problem)</a:t>
            </a:r>
          </a:p>
          <a:p>
            <a:pPr algn="just"/>
            <a:r>
              <a:rPr lang="en-US" b="1" dirty="0"/>
              <a:t>The Challenge:</a:t>
            </a:r>
            <a:r>
              <a:rPr lang="en-US" dirty="0"/>
              <a:t> There was an asynchronous delay between the GSM control path (low bandwidth, high reliability) and the Wi-Fi video path (high bandwidth, variable reliability).</a:t>
            </a:r>
          </a:p>
          <a:p>
            <a:pPr algn="just"/>
            <a:r>
              <a:rPr lang="en-US" dirty="0"/>
              <a:t> This was leading to "over-steering," where the operator moves the robot too far because the video hasn't caught up yet.</a:t>
            </a:r>
          </a:p>
          <a:p>
            <a:pPr algn="just"/>
            <a:r>
              <a:rPr lang="en-US" b="1" dirty="0"/>
              <a:t>The Solution:</a:t>
            </a:r>
            <a:r>
              <a:rPr lang="en-US" dirty="0"/>
              <a:t> We implemented a </a:t>
            </a:r>
            <a:r>
              <a:rPr lang="en-US" b="1" dirty="0"/>
              <a:t>Command-Pulse Strategy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Instead of a continuous movement signal, each DTMF keypress triggered a discrete, 500ms burst of movement. </a:t>
            </a:r>
          </a:p>
          <a:p>
            <a:pPr algn="just"/>
            <a:r>
              <a:rPr lang="en-US" dirty="0"/>
              <a:t>This forced the operator to "pulse" the controls, naturally allowing the video feed to sync between movements.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0471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9DA3C-70F5-D123-EC61-CEB168E21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185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Engineering Challenges &amp; Mitigation Strategies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3D037-D409-0360-3A98-71EA41FAA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689" y="936978"/>
            <a:ext cx="10515600" cy="4351338"/>
          </a:xfrm>
        </p:spPr>
        <p:txBody>
          <a:bodyPr/>
          <a:lstStyle/>
          <a:p>
            <a:pPr algn="just"/>
            <a:r>
              <a:rPr lang="en-US" b="1" dirty="0"/>
              <a:t>Audio Signal Integrity &amp; DTMF Decoding</a:t>
            </a:r>
          </a:p>
          <a:p>
            <a:pPr algn="just"/>
            <a:r>
              <a:rPr lang="en-US" b="1" dirty="0"/>
              <a:t>The Challenge:</a:t>
            </a:r>
            <a:r>
              <a:rPr lang="en-US" dirty="0"/>
              <a:t> Cellular networks use lossy voice compression (Codecs). </a:t>
            </a:r>
          </a:p>
          <a:p>
            <a:pPr algn="just"/>
            <a:r>
              <a:rPr lang="en-US" dirty="0"/>
              <a:t>These codecs were distorting the high-frequency components of the DTMF tones, leading to "ghosting" or failed decodes at the MT8870.</a:t>
            </a:r>
          </a:p>
          <a:p>
            <a:pPr algn="just"/>
            <a:r>
              <a:rPr lang="en-US" b="1" dirty="0"/>
              <a:t>The Solution:</a:t>
            </a:r>
            <a:r>
              <a:rPr lang="en-US" dirty="0"/>
              <a:t> We tuned the </a:t>
            </a:r>
            <a:r>
              <a:rPr lang="en-US" b="1" dirty="0"/>
              <a:t>RC Filter circuit</a:t>
            </a:r>
            <a:r>
              <a:rPr lang="en-US" dirty="0"/>
              <a:t> at the input of the MT8870 to sharpen the tone detection and used a shielded auxiliary cable to prevent the robot's motor PWM noise from leaking into the audio path.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767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53D5C-10C2-6F51-01B0-22E15F88E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736E8-00D3-B720-4A7B-F58DABC32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185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Engineering Challenges &amp; Mitigation Strategies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08F1B-EDD5-BEB4-2E53-6EF3CCE22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689" y="936978"/>
            <a:ext cx="10515600" cy="5339644"/>
          </a:xfrm>
        </p:spPr>
        <p:txBody>
          <a:bodyPr/>
          <a:lstStyle/>
          <a:p>
            <a:pPr algn="just"/>
            <a:r>
              <a:rPr lang="en-US" b="1" dirty="0"/>
              <a:t>Electromagnetic Interference (EMI)</a:t>
            </a:r>
          </a:p>
          <a:p>
            <a:pPr algn="just"/>
            <a:r>
              <a:rPr lang="en-US" b="1" dirty="0"/>
              <a:t>The Challenge:</a:t>
            </a:r>
            <a:r>
              <a:rPr lang="en-US" dirty="0"/>
              <a:t> We have three high-frequency radios in close proximity: The GSM phone (850/1900MHz), the Wi-Fi Camera (2.4GHz), and the DC Motor brushes (broadband spark noise).</a:t>
            </a:r>
          </a:p>
          <a:p>
            <a:pPr algn="just"/>
            <a:r>
              <a:rPr lang="en-US" b="1" dirty="0"/>
              <a:t>The Solution:</a:t>
            </a:r>
            <a:endParaRPr lang="en-US" dirty="0"/>
          </a:p>
          <a:p>
            <a:pPr lvl="1" algn="just"/>
            <a:r>
              <a:rPr lang="en-US" sz="2800" b="1" dirty="0"/>
              <a:t>Physical Separation:</a:t>
            </a:r>
            <a:r>
              <a:rPr lang="en-US" sz="2800" dirty="0"/>
              <a:t> We mounted the Wi-Fi antenna as far as possible from the GSM antenna.</a:t>
            </a:r>
          </a:p>
          <a:p>
            <a:pPr lvl="1" algn="just"/>
            <a:r>
              <a:rPr lang="en-US" sz="2800" b="1" dirty="0"/>
              <a:t>Snubber Circuits:</a:t>
            </a:r>
            <a:r>
              <a:rPr lang="en-US" sz="2800" dirty="0"/>
              <a:t> We added 0.1µF ceramic capacitors across the DC motor terminals to suppress the high-frequency "brush noise" that was causing the Arduino to reset intermittently.</a:t>
            </a:r>
          </a:p>
        </p:txBody>
      </p:sp>
    </p:spTree>
    <p:extLst>
      <p:ext uri="{BB962C8B-B14F-4D97-AF65-F5344CB8AC3E}">
        <p14:creationId xmlns:p14="http://schemas.microsoft.com/office/powerpoint/2010/main" val="634834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BC28A-836C-C1F1-46A7-B058104E8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4166-6400-92C7-1C93-3F2C3DBA1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185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Engineering Challenges &amp; Mitigation Strategies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BA238-DE16-16C6-8CE1-3DC31063D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689" y="936978"/>
            <a:ext cx="10515600" cy="5339644"/>
          </a:xfrm>
        </p:spPr>
        <p:txBody>
          <a:bodyPr/>
          <a:lstStyle/>
          <a:p>
            <a:pPr algn="just"/>
            <a:r>
              <a:rPr lang="en-US" b="1" dirty="0"/>
              <a:t>Power Domain Isolation</a:t>
            </a:r>
          </a:p>
          <a:p>
            <a:pPr algn="just"/>
            <a:r>
              <a:rPr lang="en-US" b="1" dirty="0"/>
              <a:t>The Challenge:</a:t>
            </a:r>
            <a:r>
              <a:rPr lang="en-US" dirty="0"/>
              <a:t> High-torque movements cause "Voltage Sag" (Brownouts). </a:t>
            </a:r>
          </a:p>
          <a:p>
            <a:pPr algn="just"/>
            <a:r>
              <a:rPr lang="en-US" dirty="0"/>
              <a:t>When the motors start, the sudden current draw can drop the voltage enough to reset the Arduino or cause the on-board phone to disconnect from the call.</a:t>
            </a:r>
          </a:p>
          <a:p>
            <a:pPr algn="just"/>
            <a:r>
              <a:rPr lang="en-US" b="1" dirty="0"/>
              <a:t>The Solution:</a:t>
            </a:r>
            <a:r>
              <a:rPr lang="en-US" dirty="0"/>
              <a:t> We designed a </a:t>
            </a:r>
            <a:r>
              <a:rPr lang="en-US" b="1" dirty="0"/>
              <a:t>Dual-Rail Power System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The logic (Arduino/MT8870) was powered through a dedicated low-dropout (LDO) regulator with a large bulk capacitor (2200µF), while the motors were powered directly from the battery through the H-Bridge.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26538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0AA64-349E-ABF0-34A1-2BFD59CA9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F1EC-4408-0C9A-748E-6D720C360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185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Engineering Challenges &amp; Mitigation Strategies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4D3B4-D1DF-1AC7-083F-82F8417AB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689" y="936978"/>
            <a:ext cx="10515600" cy="5339644"/>
          </a:xfrm>
        </p:spPr>
        <p:txBody>
          <a:bodyPr/>
          <a:lstStyle/>
          <a:p>
            <a:pPr algn="just"/>
            <a:r>
              <a:rPr lang="en-US" b="1" dirty="0"/>
              <a:t>Mechanical &amp; Environmental Constraints</a:t>
            </a:r>
          </a:p>
          <a:p>
            <a:pPr algn="just"/>
            <a:r>
              <a:rPr lang="en-US" b="1" dirty="0"/>
              <a:t>The Challenge:</a:t>
            </a:r>
            <a:r>
              <a:rPr lang="en-US" dirty="0"/>
              <a:t> Bomb disposal environments are often cluttered. The robotic arm adds a high center of gravity, making the vehicle prone to tipping.</a:t>
            </a:r>
          </a:p>
          <a:p>
            <a:pPr algn="just"/>
            <a:r>
              <a:rPr lang="en-US" b="1" dirty="0"/>
              <a:t>The Solution:</a:t>
            </a:r>
            <a:r>
              <a:rPr lang="en-US" dirty="0"/>
              <a:t> We lowered the center of mass by placing the heavy Lead-Acid or LiPo batteries at the very bottom of the chassis and used a "Tracked" locomotion system to increase the surface area for better traction on uneven debris.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670563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17AA8-6FBF-F83E-6533-B9C208EF4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Endeavors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D91E7-5C79-1E31-942C-8442323D8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844" y="1577270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b="1" dirty="0"/>
              <a:t>Enhanced Perception and Autonomy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Computer Vision Integration: Moving beyond simple MJPEG streaming to include OpenCV-based object detection to help the operator automatically identify trigger wires or specific explosive components.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Thermal and X-Ray Imaging: Integrating the X-Ray Mount discussed in your hardware requirements to allow the operator to visualize internal firing circuits without physical contact.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Automated Target Tracking: Implementing software logic that uses the ESP32-CAM to "lock on" to a target, allowing the robotic arm to maintain a steady position even if the vehicle chassis moves slightly.</a:t>
            </a:r>
          </a:p>
        </p:txBody>
      </p:sp>
    </p:spTree>
    <p:extLst>
      <p:ext uri="{BB962C8B-B14F-4D97-AF65-F5344CB8AC3E}">
        <p14:creationId xmlns:p14="http://schemas.microsoft.com/office/powerpoint/2010/main" val="81648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79A72-987B-2A8E-BE05-6520BEC04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598A8-DC5D-7CD1-3BB1-33BDAC456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Endeavors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A3CFF-C5A5-868E-DB60-3315CA1D4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844" y="1577270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b="1" dirty="0"/>
              <a:t>Advanced Communication and Telemetry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5G/LTE Integration: Replacing the current GSM/DTMF bridge with a high-speed 5G module to significantly reduce the 300ms+ latency often found in traditional cellular links.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Satellite Link Redundancy: For remote "No-Man's-Land" operations where cellular towers are unavailable, a satellite-based telemetry link would ensure the BVLOS capability remains global.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Enhanced Haptic Feedback: Developing a bilateral control system where the Android GCS provides physical vibration or resistance (haptics) to the operator based on the force the gripper is exerting on an object.</a:t>
            </a:r>
          </a:p>
        </p:txBody>
      </p:sp>
    </p:spTree>
    <p:extLst>
      <p:ext uri="{BB962C8B-B14F-4D97-AF65-F5344CB8AC3E}">
        <p14:creationId xmlns:p14="http://schemas.microsoft.com/office/powerpoint/2010/main" val="28806104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106AB-871E-3852-01F0-FFAF6175B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4AE85-B878-C6AA-60A7-47885F9EE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Endeavors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4337C-56F2-C260-5222-0215CA99F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844" y="1577270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 dirty="0"/>
              <a:t>Specialized Neutralization Tools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Advanced Disarm Payloads: Expanding the "Cutter" mechanism to include a high-pressure water-jet disrupter to shred circuitry instantly or non-conductive ceramic blades to prevent accidental shorts.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Environmental Sensing: Adding a Chemical Sniffer at the tip of the arm to identify explosive vapors like C4 or TNT before the arm makes physical contact.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Capacitor Discharge Tool: Integrating a dedicated probe to safely drain energy from a bomb's firing capacitor.</a:t>
            </a:r>
          </a:p>
        </p:txBody>
      </p:sp>
    </p:spTree>
    <p:extLst>
      <p:ext uri="{BB962C8B-B14F-4D97-AF65-F5344CB8AC3E}">
        <p14:creationId xmlns:p14="http://schemas.microsoft.com/office/powerpoint/2010/main" val="41545374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CBB21-B02B-5D2F-1ED1-49385E0CC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B0C58-E59E-E95C-9F0F-EB54824F0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Endeavors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C5F54-16DD-35A3-BCDD-325367245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844" y="1577270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b="1" dirty="0"/>
              <a:t>Mechanical and Power Resilience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Active Stabilization: Implementing an IMU (Inertial Measurement Unit) to detect when the high center of gravity might cause a tip-over, and automatically adjusting the arm's position to counter-balance the weight.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Energy Density Upgrades: Moving from Lead-Acid to high-capacity Solid-State batteries to improve operating time while keeping the center of mass low.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Swarm Coordination: Developing the firmware to allow a single Android GCS  to control multiple robots, allowing one robot to provide a "side-view" camera feed while the other performs the delicate disarm task.</a:t>
            </a:r>
          </a:p>
        </p:txBody>
      </p:sp>
    </p:spTree>
    <p:extLst>
      <p:ext uri="{BB962C8B-B14F-4D97-AF65-F5344CB8AC3E}">
        <p14:creationId xmlns:p14="http://schemas.microsoft.com/office/powerpoint/2010/main" val="3526434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2481</Words>
  <Application>Microsoft Macintosh PowerPoint</Application>
  <PresentationFormat>Widescreen</PresentationFormat>
  <Paragraphs>242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Google Sans Text</vt:lpstr>
      <vt:lpstr>Office Theme</vt:lpstr>
      <vt:lpstr>Android-Controlled Bomb Disposal Robotic Arm Vehicle</vt:lpstr>
      <vt:lpstr>Introduction:</vt:lpstr>
      <vt:lpstr>BVLOS HYBRID CONTROL ARCHITECTURE </vt:lpstr>
      <vt:lpstr>BVLOS Bomb Disposal Robot: App Architecture </vt:lpstr>
      <vt:lpstr>The Hybrid Telemetry Architecture</vt:lpstr>
      <vt:lpstr>Technical Summary Table </vt:lpstr>
      <vt:lpstr>Hardware Components</vt:lpstr>
      <vt:lpstr>Hardware Components</vt:lpstr>
      <vt:lpstr>Hardware Components</vt:lpstr>
      <vt:lpstr>Hardware Components</vt:lpstr>
      <vt:lpstr>Step-by-Step Development</vt:lpstr>
      <vt:lpstr>BVLOS Bomb Disposal Robot: App Architecture </vt:lpstr>
      <vt:lpstr>BVLOS Bomb Disposal Robot: App Architecture </vt:lpstr>
      <vt:lpstr>BVLOS Bomb Disposal Robot: App Architecture </vt:lpstr>
      <vt:lpstr>BVLOS Bomb Disposal Robot: App Architecture </vt:lpstr>
      <vt:lpstr>BVLOS Bomb Disposal Robot: App Architecture </vt:lpstr>
      <vt:lpstr>BVLOS Bomb Disposal Robot: App Architecture </vt:lpstr>
      <vt:lpstr>BVLOS Bomb Disposal Robot: App Architecture </vt:lpstr>
      <vt:lpstr>Fire base console</vt:lpstr>
      <vt:lpstr>Step-by-Step Development</vt:lpstr>
      <vt:lpstr>Technical Breakdown: DTMF Control via GSM</vt:lpstr>
      <vt:lpstr>DTMF Binary Table</vt:lpstr>
      <vt:lpstr>PowerPoint Presentation</vt:lpstr>
      <vt:lpstr>Engineering Challenges &amp; Mitigation Strategies </vt:lpstr>
      <vt:lpstr>Engineering Challenges &amp; Mitigation Strategies </vt:lpstr>
      <vt:lpstr>Engineering Challenges &amp; Mitigation Strategies </vt:lpstr>
      <vt:lpstr>Engineering Challenges &amp; Mitigation Strategies </vt:lpstr>
      <vt:lpstr>Engineering Challenges &amp; Mitigation Strategies </vt:lpstr>
      <vt:lpstr>Future Endeavors </vt:lpstr>
      <vt:lpstr>Future Endeavors </vt:lpstr>
      <vt:lpstr>Future Endeavors </vt:lpstr>
      <vt:lpstr>Future Endeavors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Anwar Awan</dc:creator>
  <cp:lastModifiedBy>Adnan Anwar Awan</cp:lastModifiedBy>
  <cp:revision>73</cp:revision>
  <cp:lastPrinted>2026-01-25T21:35:14Z</cp:lastPrinted>
  <dcterms:created xsi:type="dcterms:W3CDTF">2026-01-25T03:47:56Z</dcterms:created>
  <dcterms:modified xsi:type="dcterms:W3CDTF">2026-02-04T21:28:23Z</dcterms:modified>
</cp:coreProperties>
</file>